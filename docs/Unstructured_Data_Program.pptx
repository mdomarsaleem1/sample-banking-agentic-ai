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Unstructured Data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Modernization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Plan &amp; Discussion with VP, Data Products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2860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880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2.0  —  Unstructured Track  |  Ops LOB 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|  Draft for Discussion  |  ~12-Month Program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0" y="640080"/>
            <a:ext cx="73152" cy="3200400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46720" y="1097280"/>
            <a:ext cx="73152" cy="2286000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0" y="1554480"/>
            <a:ext cx="73152" cy="1371600"/>
          </a:xfrm>
          <a:prstGeom prst="rect">
            <a:avLst/>
          </a:prstGeom>
          <a:solidFill>
            <a:srgbClr val="1D4ED8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587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
</a:t>
            </a:r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Current State  →  Why Now  →  Scope  →  Program Plan  →  Discovery &amp; Ownership  →  Stakeholders  →  Governance  →  Resources  →  Risks  →  Ask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2.0 is live for structured data — unstructured remains the largest untapped opportunity and risk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87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AI READINESS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0" y="1325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structured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AI-ready today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5661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01168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unstructured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cataloged or discoverable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35661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34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COMPLEXITY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0358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PB total enterprise data estate across 13 LOBs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Unstructured: PDFs, knowledge articles, policies, procedures, regulatory filings, correspondence — scattered across SharePoint, S3, network drives, and legacy systems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catalog for unstructured content today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document management systems (per-LOB)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023360" cy="3474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9875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2.0 DUAL-TRACK FRAMEWORK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40233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325880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32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Findability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99048" y="1325880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99048" y="132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97496" y="1325880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97496" y="132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00600" y="1965960"/>
            <a:ext cx="3749040" cy="9144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1965960"/>
            <a:ext cx="54864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0391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22585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databases, APIs — Mod 2.0 scoring framework live, 32% at Gold+ tier. Active remediation underway.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3017520"/>
            <a:ext cx="3749040" cy="9144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017520"/>
            <a:ext cx="54864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0906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33101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docs, knowledge bases — no catalog, no scoring, no NLP pipeline. THIS IS TODAY'S FOCUS. Starting from near-zero.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4462272"/>
            <a:ext cx="82296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structured data — with known schemas and SQL access — is only 32% ready, unstructured data will require a fundamentally different approach: longer timelines, heavier discovery, and stronger data-owner engagement.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Now: The Unstructured Data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structural gaps block AI agents and analysts from leveraging ~60% of the bank's institutional knowledge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1965960"/>
          </a:xfrm>
          <a:prstGeom prst="rect">
            <a:avLst/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19202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24128"/>
            <a:ext cx="292608" cy="292608"/>
          </a:xfrm>
          <a:prstGeom prst="ellipse">
            <a:avLst/>
          </a:prstGeom>
          <a:solidFill>
            <a:srgbClr val="EF4444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024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FIND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data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enterprise catalog for unstructured content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sites are LOB-siloed with no cross-search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articles lack tags, categories, or metadata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data: unknown volumes in S3, legacy NAS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0" y="914400"/>
            <a:ext cx="1920240" cy="1965960"/>
          </a:xfrm>
          <a:prstGeom prst="rect">
            <a:avLst/>
          </a:prstGeom>
          <a:solidFill>
            <a:srgbClr val="1E293B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914400"/>
            <a:ext cx="192024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2651760" y="1024128"/>
            <a:ext cx="292608" cy="292608"/>
          </a:xfrm>
          <a:prstGeom prst="ellipse">
            <a:avLst/>
          </a:prstGeom>
          <a:solidFill>
            <a:srgbClr val="F97316">
              <a:alpha val="7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1024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ACCESS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11704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efficiently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1417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locked in per-LOB permission silos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layer for document retrieval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request processes (days-to-weeks latency)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programmatic access for AI agents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63440" y="914400"/>
            <a:ext cx="1920240" cy="1965960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91440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024128"/>
            <a:ext cx="292608" cy="292608"/>
          </a:xfrm>
          <a:prstGeom prst="ellipse">
            <a:avLst/>
          </a:prstGeom>
          <a:solidFill>
            <a:srgbClr val="F59E0B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1024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TRUST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11704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417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lineage: who created, when last updated?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Duplicate/conflicting versions across sites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freshness signals or expiration metadata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against authoritative source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766560" y="914400"/>
            <a:ext cx="1920240" cy="1965960"/>
          </a:xfrm>
          <a:prstGeom prst="rect">
            <a:avLst/>
          </a:prstGeom>
          <a:solidFill>
            <a:srgbClr val="1E293B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914400"/>
            <a:ext cx="19202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0" y="1024128"/>
            <a:ext cx="292608" cy="292608"/>
          </a:xfrm>
          <a:prstGeom prst="ellipse">
            <a:avLst/>
          </a:prstGeom>
          <a:solidFill>
            <a:srgbClr val="7C3AED">
              <a:alpha val="7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23760" y="1024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PROCESS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11704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1417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NLP/embedding pipelines built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reading required for compliance review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entity extraction or summarization capability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feed unstructured content to AI models safely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3017520"/>
            <a:ext cx="82296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0906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AI USE CASES — QUANTIFIED BUSINESS IMPACT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337560"/>
            <a:ext cx="54864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3375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 Agent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" y="350215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answer policy/procedure questions — knowledge articles not indexed, tagged, or quality-scored. Agents hallucinate or refuse to answer, routing to human queue.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858000" y="3355848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55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Tier-1 support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to humans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867912"/>
            <a:ext cx="54864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8679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Document Scanning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0080" y="403250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auto-scan regulatory filings, audit reports, consent forms for risk signals. Compliance team manually reviews every document — 200+ analyst-hours per quarter per LOB.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858000" y="388620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F97316">
              <a:alpha val="25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2,600+ manual hrs/yr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13 LOBs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4398264"/>
            <a:ext cx="54864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3982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Communication Mining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0080" y="456285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extract sentiment, intent, or trends from customer letters, complaints, and correspondence. Cross-LOB blind spots leave systemic issues undetected for months.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858000" y="4416552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4416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4.2 months to detect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cross-LOB patterns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Scope: What's In and What's 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V1 scope — start with organized, high-value content that has identifiable owners and proven AI demand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05840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 SCOPE (V1)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38039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articles in managed databases (ServiceNow, Confluence)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PDF repositories (policy, procedure, regulatory filings)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SharePoint document libraries with identifiable owners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data with identifiable schemas (XML configs, JSON logs)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LOB as initial pilot (leverage existing Mod 1.0 artifacts)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scoring framework adapted for unstructured characteristics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as metadata catalog (extend existing POC)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 NLP/ML pipeline (SageMaker, Comprehend, Textract)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02336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402336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1005840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NOT IN SCOPE (V1)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1298448"/>
            <a:ext cx="38039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Random/unorganized files across shared drives and personal sites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videos, audio files, and scanned documents without OCR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archives, chat transcripts, and meeting recordings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unstructured data (social media, live feeds)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Cross-LOB rollout beyond Ops LOB pilot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/ self-service dashboards (V2 feature)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 training / fine-tuning on bank data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agent deployment (separate workstream)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2452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PRINCIPLE:  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organized data that has clear ownership, proven AI demand, and regulatory sensitivity. Prove the framework on Ops LOB, then expand LOB-by-LOB. Scope additions require a formal change request approved by SteerCo.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Program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~12-month program with overlapping phases — each with clear deliverables, exit gates, and data-owner sign-offs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877824"/>
            <a:ext cx="1938528" cy="352044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950976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950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95097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" y="1335024"/>
            <a:ext cx="1755648" cy="182880"/>
          </a:xfrm>
          <a:prstGeom prst="roundRect">
            <a:avLst>
              <a:gd name="adj" fmla="val 15000"/>
            </a:avLst>
          </a:prstGeom>
          <a:solidFill>
            <a:srgbClr val="1D4ED8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335024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591056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75488" y="1728216"/>
            <a:ext cx="17556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Four Pillars scoring for unstructured data characteristics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discovery: crawl SharePoint, S3, ServiceNow, Confluence across Ops LOB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all discovered sources in DataHub with initial metadata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document types (policy, procedure, KB article, form, report)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engage data owners for each discovered source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scoring on 20-30 Ops datasets; calibrate with SMEs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75488" y="3511296"/>
            <a:ext cx="1755648" cy="137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356616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75488" y="3694176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framework + 100% Ops LOB sources cataloged + data owners identified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322576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32304" y="877824"/>
            <a:ext cx="1938528" cy="3520440"/>
          </a:xfrm>
          <a:prstGeom prst="rect">
            <a:avLst/>
          </a:prstGeom>
          <a:solidFill>
            <a:srgbClr val="1E293B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23744" y="950976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2523744" y="950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71216" y="95097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Prioritization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23744" y="1335024"/>
            <a:ext cx="1755648" cy="182880"/>
          </a:xfrm>
          <a:prstGeom prst="roundRect">
            <a:avLst>
              <a:gd name="adj" fmla="val 15000"/>
            </a:avLst>
          </a:prstGeom>
          <a:solidFill>
            <a:srgbClr val="7C3AED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523744" y="1335024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3-6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23744" y="1591056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523744" y="1728216"/>
            <a:ext cx="17556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scoring engine aligned to Mod 2.0 framework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discovered datasets (as-is state) — expect 80%+ Bronze/Unscored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target state per dataset with data owners (formal sign-off)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 accept responsibility for their datasets' modernization path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datasets by AI use-case value × remediation effort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prioritized backlog with gap-analysis per dataset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523744" y="3511296"/>
            <a:ext cx="1755648" cy="1371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2523744" y="356616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523744" y="3694176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backlog + data owner sign-offs + target state agreements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70832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877824"/>
            <a:ext cx="1938528" cy="3520440"/>
          </a:xfrm>
          <a:prstGeom prst="rect">
            <a:avLst/>
          </a:prstGeom>
          <a:solidFill>
            <a:srgbClr val="1E293B"/>
          </a:solidFill>
          <a:ln w="10160">
            <a:solidFill>
              <a:srgbClr val="2DD4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950976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950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19472" y="95097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Enablement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Enrichment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1335024"/>
            <a:ext cx="1755648" cy="182880"/>
          </a:xfrm>
          <a:prstGeom prst="roundRect">
            <a:avLst>
              <a:gd name="adj" fmla="val 15000"/>
            </a:avLst>
          </a:prstGeom>
          <a:solidFill>
            <a:srgbClr val="0D9488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1335024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5-9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0" y="1591056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0" y="1728216"/>
            <a:ext cx="17556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NLP ingestion pipelines (entity extraction, classification, summarization)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vector embeddings for top-priority document sets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sensitivity detection + auto-redaction for PII/MNPI/privilege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extraction &amp; enrichment (author, date, topic, freshness, lineage)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enriched data into DataHub; expose via API for AI agents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top-20 priority datasets to Gold+ tier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572000" y="3511296"/>
            <a:ext cx="1755648" cy="1371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356616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572000" y="3694176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 datasets at Gold+ tier; knowledge agent prototype live with Ops content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419088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28816" y="877824"/>
            <a:ext cx="1938528" cy="3520440"/>
          </a:xfrm>
          <a:prstGeom prst="rect">
            <a:avLst/>
          </a:prstGeom>
          <a:solidFill>
            <a:srgbClr val="1E293B"/>
          </a:solidFill>
          <a:ln w="10160">
            <a:solidFill>
              <a:srgbClr val="FBBF2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620256" y="9509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6620256" y="950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67728" y="95097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Mgmt,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Scale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620256" y="1335024"/>
            <a:ext cx="1755648" cy="182880"/>
          </a:xfrm>
          <a:prstGeom prst="roundRect">
            <a:avLst>
              <a:gd name="adj" fmla="val 15000"/>
            </a:avLst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620256" y="1335024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8-12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620256" y="1591056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620256" y="1728216"/>
            <a:ext cx="17556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content owners, stewards, and LOB analysts on new workflows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ongoing scoring &amp; monitoring (automated pipelines)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Gamify quality improvement (leaderboards, scorecards, incentives)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adoption metrics and report to SteerCo monthly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readout with ROI data + V2 business case (cross-LOB expansion)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playbook for next LOB rollout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620256" y="3511296"/>
            <a:ext cx="1755648" cy="1371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9" name="Text 47"/>
          <p:cNvSpPr/>
          <p:nvPr/>
        </p:nvSpPr>
        <p:spPr>
          <a:xfrm>
            <a:off x="6620256" y="356616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620256" y="3694176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datasets scored; 10+ data owners trained; V2 roadmap funded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84048" y="4498848"/>
            <a:ext cx="8375904" cy="23774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" y="4526280"/>
            <a:ext cx="1938528" cy="164592"/>
          </a:xfrm>
          <a:prstGeom prst="roundRect">
            <a:avLst>
              <a:gd name="adj" fmla="val 16667"/>
            </a:avLst>
          </a:prstGeom>
          <a:solidFill>
            <a:srgbClr val="1D4ED8">
              <a:alpha val="5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66928" y="452628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M1–M3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615184" y="4526280"/>
            <a:ext cx="1938528" cy="164592"/>
          </a:xfrm>
          <a:prstGeom prst="roundRect">
            <a:avLst>
              <a:gd name="adj" fmla="val 16667"/>
            </a:avLst>
          </a:prstGeom>
          <a:solidFill>
            <a:srgbClr val="7C3AED">
              <a:alpha val="5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2615184" y="452628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M3–M6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663440" y="4526280"/>
            <a:ext cx="1938528" cy="164592"/>
          </a:xfrm>
          <a:prstGeom prst="roundRect">
            <a:avLst>
              <a:gd name="adj" fmla="val 16667"/>
            </a:avLst>
          </a:prstGeom>
          <a:solidFill>
            <a:srgbClr val="0D9488">
              <a:alpha val="5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663440" y="452628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M5–M9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711696" y="4526280"/>
            <a:ext cx="1938528" cy="164592"/>
          </a:xfrm>
          <a:prstGeom prst="roundRect">
            <a:avLst>
              <a:gd name="adj" fmla="val 16667"/>
            </a:avLst>
          </a:prstGeom>
          <a:solidFill>
            <a:srgbClr val="F59E0B">
              <a:alpha val="5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711696" y="452628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M8–M12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Data Ownership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is the hardest phase — and data owners must formally accept responsibility before we invest in enrichment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206240" cy="342900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20624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0584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DISCOVERY IS THE HARDEST PHASE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the unknown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490472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structured data (known tables, schemas), unstructured content lives in dozens of systems per LOB — SharePoint, network drives, S3 buckets, ServiceNow, Confluence, legacy DMS. Many are undocumented.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6928" y="2075688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metadata to start from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2240280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has column names and types. Unstructured docs often have only a filename and a folder path. We must build metadata from scratch using NLP classification.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2825496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is ambiguous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2990088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'owns' a PDF uploaded to SharePoint 5 years ago? Content managers, LOB heads, and IT all point to each other. Establishing clear ownership is a prerequisite for modernization.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3575304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complexity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3739896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controls are per-site, per-folder, sometimes per-document. Crawling requires coordination with each LOB's IT and compliance team to get read access.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92040" y="914400"/>
            <a:ext cx="3794760" cy="3429000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914400"/>
            <a:ext cx="3794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001768" y="1005840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 COMMITMENT MODEL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01768" y="1243584"/>
            <a:ext cx="3575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dataset advances to enrichment without a signed owner commitment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01768" y="1527048"/>
            <a:ext cx="256032" cy="25603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5001768" y="1527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0952" y="150876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30952" y="16733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team catalogs the data source, classifies content type, and identifies candidate owner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56632" y="180136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01768" y="218541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001768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30952" y="216712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30952" y="2331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data owner is notified; reviews the source inventory and scoring assessment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56632" y="245973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01768" y="284378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001768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30952" y="28254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30952" y="29900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 formally accepts responsibility — signs off on current state, target state, and remediation timeline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56632" y="311810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01768" y="3502152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001768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30952" y="348386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30952" y="364845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commits resources to remediation; progress tracked in SteerCo dashboards; escalation if stalled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57200" y="4407408"/>
            <a:ext cx="82296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 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formal data-owner commitment, we risk investing in enrichment for datasets that no one will maintain. This is the #1 lesson from Mod 1.0 structured data — orphaned datasets degrade within 6 months.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team at the center — concentric layers of accountability. Unstructured track adds Content Managers and Knowledge Workers.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05840" y="822960"/>
            <a:ext cx="6766560" cy="3931920"/>
          </a:xfrm>
          <a:prstGeom prst="ellipse">
            <a:avLst/>
          </a:prstGeom>
          <a:solidFill>
            <a:srgbClr val="06B6D4">
              <a:alpha val="10000"/>
            </a:srgbClr>
          </a:solidFill>
          <a:ln w="15240">
            <a:solidFill>
              <a:srgbClr val="06B6D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143000" y="914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83080" y="1280160"/>
            <a:ext cx="5212080" cy="3017520"/>
          </a:xfrm>
          <a:prstGeom prst="ellipse">
            <a:avLst/>
          </a:prstGeom>
          <a:solidFill>
            <a:srgbClr val="7C3AED">
              <a:alpha val="10000"/>
            </a:srgbClr>
          </a:solidFill>
          <a:ln w="15240">
            <a:solidFill>
              <a:srgbClr val="7C3AE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92024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OWNERS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0" y="1783080"/>
            <a:ext cx="3657600" cy="2011680"/>
          </a:xfrm>
          <a:prstGeom prst="ellipse">
            <a:avLst/>
          </a:prstGeom>
          <a:solidFill>
            <a:srgbClr val="10B981">
              <a:alpha val="10000"/>
            </a:srgbClr>
          </a:solidFill>
          <a:ln w="15240">
            <a:solidFill>
              <a:srgbClr val="10B98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697480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&amp; ENGINEERING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0" y="2194560"/>
            <a:ext cx="2377440" cy="1188720"/>
          </a:xfrm>
          <a:prstGeom prst="ellipse">
            <a:avLst/>
          </a:prstGeom>
          <a:solidFill>
            <a:srgbClr val="3B82F6">
              <a:alpha val="12000"/>
            </a:srgbClr>
          </a:solidFill>
          <a:ln w="15240">
            <a:solidFill>
              <a:srgbClr val="3B82F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337560" y="2286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2532888"/>
            <a:ext cx="1097280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77800" dist="50800" dir="16200000">
              <a:srgbClr val="F59E0B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253288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926080"/>
            <a:ext cx="841248" cy="36576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92608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0" y="2377440"/>
            <a:ext cx="841248" cy="36576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3774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 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91840" y="2331720"/>
            <a:ext cx="841248" cy="36576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33172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29200" y="2926080"/>
            <a:ext cx="841248" cy="36576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92608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697480" y="3200400"/>
            <a:ext cx="804672" cy="365760"/>
          </a:xfrm>
          <a:prstGeom prst="roundRect">
            <a:avLst>
              <a:gd name="adj" fmla="val 10000"/>
            </a:avLst>
          </a:prstGeom>
          <a:solidFill>
            <a:srgbClr val="065F46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32004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023360" y="3291840"/>
            <a:ext cx="804672" cy="365760"/>
          </a:xfrm>
          <a:prstGeom prst="roundRect">
            <a:avLst>
              <a:gd name="adj" fmla="val 10000"/>
            </a:avLst>
          </a:prstGeom>
          <a:solidFill>
            <a:srgbClr val="065F46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329184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303520" y="3200400"/>
            <a:ext cx="804672" cy="365760"/>
          </a:xfrm>
          <a:prstGeom prst="roundRect">
            <a:avLst>
              <a:gd name="adj" fmla="val 10000"/>
            </a:avLst>
          </a:prstGeom>
          <a:solidFill>
            <a:srgbClr val="065F46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32004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011680" y="2697480"/>
            <a:ext cx="749808" cy="365760"/>
          </a:xfrm>
          <a:prstGeom prst="roundRect">
            <a:avLst>
              <a:gd name="adj" fmla="val 10000"/>
            </a:avLst>
          </a:prstGeom>
          <a:solidFill>
            <a:srgbClr val="4C1D95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269748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989320" y="2697480"/>
            <a:ext cx="749808" cy="365760"/>
          </a:xfrm>
          <a:prstGeom prst="roundRect">
            <a:avLst>
              <a:gd name="adj" fmla="val 10000"/>
            </a:avLst>
          </a:prstGeom>
          <a:solidFill>
            <a:srgbClr val="4C1D95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69748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011680" y="3337560"/>
            <a:ext cx="749808" cy="365760"/>
          </a:xfrm>
          <a:prstGeom prst="roundRect">
            <a:avLst>
              <a:gd name="adj" fmla="val 10000"/>
            </a:avLst>
          </a:prstGeom>
          <a:solidFill>
            <a:srgbClr val="4C1D95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333756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989320" y="3337560"/>
            <a:ext cx="749808" cy="365760"/>
          </a:xfrm>
          <a:prstGeom prst="roundRect">
            <a:avLst>
              <a:gd name="adj" fmla="val 10000"/>
            </a:avLst>
          </a:prstGeom>
          <a:solidFill>
            <a:srgbClr val="4C1D95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333756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280160" y="2103120"/>
            <a:ext cx="749808" cy="365760"/>
          </a:xfrm>
          <a:prstGeom prst="roundRect">
            <a:avLst>
              <a:gd name="adj" fmla="val 10000"/>
            </a:avLst>
          </a:prstGeom>
          <a:solidFill>
            <a:srgbClr val="164E6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80160" y="210312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766560" y="2103120"/>
            <a:ext cx="749808" cy="365760"/>
          </a:xfrm>
          <a:prstGeom prst="roundRect">
            <a:avLst>
              <a:gd name="adj" fmla="val 10000"/>
            </a:avLst>
          </a:prstGeom>
          <a:solidFill>
            <a:srgbClr val="164E6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210312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280160" y="3657600"/>
            <a:ext cx="749808" cy="365760"/>
          </a:xfrm>
          <a:prstGeom prst="roundRect">
            <a:avLst>
              <a:gd name="adj" fmla="val 10000"/>
            </a:avLst>
          </a:prstGeom>
          <a:solidFill>
            <a:srgbClr val="164E6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80160" y="365760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766560" y="3657600"/>
            <a:ext cx="749808" cy="365760"/>
          </a:xfrm>
          <a:prstGeom prst="roundRect">
            <a:avLst>
              <a:gd name="adj" fmla="val 10000"/>
            </a:avLst>
          </a:prstGeom>
          <a:solidFill>
            <a:srgbClr val="164E6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365760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680960" y="1051560"/>
            <a:ext cx="137160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72400" y="1097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72400" y="1426464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7973568" y="13898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Team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772400" y="173736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7973568" y="170078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772400" y="204825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7973568" y="2011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&amp; Eng.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772400" y="2359152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7973568" y="232257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Owners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772400" y="2670048"/>
            <a:ext cx="137160" cy="1371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5" name="Text 53"/>
          <p:cNvSpPr/>
          <p:nvPr/>
        </p:nvSpPr>
        <p:spPr>
          <a:xfrm>
            <a:off x="7973568" y="26334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Governance, Communication &amp; Decision Rights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Multi-layered governance designed for a complex bank — ensuring decisions are made by the right people at the right cadence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2029968" cy="2468880"/>
          </a:xfrm>
          <a:prstGeom prst="rect">
            <a:avLst/>
          </a:prstGeom>
          <a:solidFill>
            <a:srgbClr val="1E293B"/>
          </a:solidFill>
          <a:ln w="8890">
            <a:solidFill>
              <a:srgbClr val="FBBF2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96112"/>
            <a:ext cx="2029968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95097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SteerCo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188720"/>
            <a:ext cx="1883664" cy="219456"/>
          </a:xfrm>
          <a:prstGeom prst="roundRect">
            <a:avLst>
              <a:gd name="adj" fmla="val 12500"/>
            </a:avLst>
          </a:prstGeom>
          <a:solidFill>
            <a:srgbClr val="F59E0B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887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38912" y="1481328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38912" y="1591056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Data Products, CDO,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Lead, LOB Heads,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Head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38912" y="2103120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38912" y="2212848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phase gates, scope changes, cross-LOB conflicts, V2 go/no-go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50592" y="896112"/>
            <a:ext cx="2029968" cy="2468880"/>
          </a:xfrm>
          <a:prstGeom prst="rect">
            <a:avLst/>
          </a:prstGeom>
          <a:solidFill>
            <a:srgbClr val="1E293B"/>
          </a:solidFill>
          <a:ln w="889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896112"/>
            <a:ext cx="2029968" cy="3200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2523744" y="95097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Council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23744" y="1188720"/>
            <a:ext cx="1883664" cy="219456"/>
          </a:xfrm>
          <a:prstGeom prst="roundRect">
            <a:avLst>
              <a:gd name="adj" fmla="val 12500"/>
            </a:avLst>
          </a:prstGeom>
          <a:solidFill>
            <a:srgbClr val="1D4ED8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523744" y="11887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523744" y="1481328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523744" y="1591056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Architect, ML Lead,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Eng, Security,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 team tech leads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523744" y="2103120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ON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523744" y="2212848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tool selection (TBD), integration patterns, ADRs, security approvals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35424" y="896112"/>
            <a:ext cx="2029968" cy="2468880"/>
          </a:xfrm>
          <a:prstGeom prst="rect">
            <a:avLst/>
          </a:prstGeom>
          <a:solidFill>
            <a:srgbClr val="1E293B"/>
          </a:solidFill>
          <a:ln w="8890">
            <a:solidFill>
              <a:srgbClr val="F8717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35424" y="896112"/>
            <a:ext cx="2029968" cy="320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608576" y="95097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08576" y="1188720"/>
            <a:ext cx="1883664" cy="219456"/>
          </a:xfrm>
          <a:prstGeom prst="roundRect">
            <a:avLst>
              <a:gd name="adj" fmla="val 12500"/>
            </a:avLst>
          </a:prstGeom>
          <a:solidFill>
            <a:srgbClr val="EF4444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11887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608576" y="1481328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608576" y="1591056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Lead, Legal,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Eng, Risk Officer,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Officer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08576" y="2103120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ON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608576" y="2212848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PII/MNPI classification, consent models, regulatory alignment, data retention, audit readiness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620256" y="896112"/>
            <a:ext cx="2029968" cy="2468880"/>
          </a:xfrm>
          <a:prstGeom prst="rect">
            <a:avLst/>
          </a:prstGeom>
          <a:solidFill>
            <a:srgbClr val="1E293B"/>
          </a:solidFill>
          <a:ln w="8890">
            <a:solidFill>
              <a:srgbClr val="2DD4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20256" y="896112"/>
            <a:ext cx="2029968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693408" y="95097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Team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93408" y="1188720"/>
            <a:ext cx="1883664" cy="219456"/>
          </a:xfrm>
          <a:prstGeom prst="roundRect">
            <a:avLst>
              <a:gd name="adj" fmla="val 12500"/>
            </a:avLst>
          </a:prstGeom>
          <a:solidFill>
            <a:srgbClr val="0D9488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693408" y="11887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Weekly sync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693408" y="1481328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693408" y="1591056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team: Data Eng, ML Eng,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Analyst, Stewards,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Managers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693408" y="2103120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ON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693408" y="2212848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execution, blockers, metadata validation, scoring calibration, discovery progress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" y="3456432"/>
            <a:ext cx="8412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520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MATRIX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74904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F59E0B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7490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↑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325880" y="3749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SteerCo / CDO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880360" y="3749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 status, risk flags, resource asks, blockers needing exec action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31520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+ ad-hoc escalation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57200" y="406908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1D4ED8">
              <a:alpha val="4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0690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 ↔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325880" y="4069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 Teams / LOBs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880360" y="4069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findings, data owner nominations, scoring calibration requests, shared standards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315200" y="4069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+ as-needed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57200" y="438912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0D9488">
              <a:alpha val="4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43891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↓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325880" y="4389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Team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880360" y="4389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priorities, SteerCo decisions, scope/timeline changes, unblocked items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315200" y="4389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 + weekly sync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65760" y="4681728"/>
            <a:ext cx="8412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Plan &amp; Stakeholder Involvement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resourcing for G-SIB complexity — 7-8 FTE core + LOB contributors, ramping across phases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1828800" cy="347472"/>
          </a:xfrm>
          <a:prstGeom prst="rect">
            <a:avLst/>
          </a:prstGeom>
          <a:solidFill>
            <a:srgbClr val="F59E0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96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67712" y="896112"/>
            <a:ext cx="502920" cy="347472"/>
          </a:xfrm>
          <a:prstGeom prst="rect">
            <a:avLst/>
          </a:prstGeom>
          <a:solidFill>
            <a:srgbClr val="F59E0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67712" y="8961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98064" y="896112"/>
            <a:ext cx="1417320" cy="347472"/>
          </a:xfrm>
          <a:prstGeom prst="rect">
            <a:avLst/>
          </a:prstGeom>
          <a:solidFill>
            <a:srgbClr val="F59E0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98064" y="8961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42816" y="896112"/>
            <a:ext cx="1417320" cy="347472"/>
          </a:xfrm>
          <a:prstGeom prst="rect">
            <a:avLst/>
          </a:prstGeom>
          <a:solidFill>
            <a:srgbClr val="F59E0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2816" y="8961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87568" y="896112"/>
            <a:ext cx="1417320" cy="347472"/>
          </a:xfrm>
          <a:prstGeom prst="rect">
            <a:avLst/>
          </a:prstGeom>
          <a:solidFill>
            <a:srgbClr val="F59E0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8961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132320" y="896112"/>
            <a:ext cx="1417320" cy="347472"/>
          </a:xfrm>
          <a:prstGeom prst="rect">
            <a:avLst/>
          </a:prstGeom>
          <a:solidFill>
            <a:srgbClr val="F59E0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8961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1280160"/>
            <a:ext cx="182880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67712" y="1280160"/>
            <a:ext cx="5029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1280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98064" y="1280160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98064" y="1280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42816" y="1280160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42816" y="1280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87568" y="1280160"/>
            <a:ext cx="1417320" cy="274320"/>
          </a:xfrm>
          <a:prstGeom prst="rect">
            <a:avLst/>
          </a:prstGeom>
          <a:solidFill>
            <a:srgbClr val="F59E0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1280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32320" y="1280160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1280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1581912"/>
            <a:ext cx="182880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581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67712" y="1581912"/>
            <a:ext cx="5029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67712" y="15819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98064" y="1581912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98064" y="1581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42816" y="1581912"/>
            <a:ext cx="1417320" cy="274320"/>
          </a:xfrm>
          <a:prstGeom prst="rect">
            <a:avLst/>
          </a:prstGeom>
          <a:solidFill>
            <a:srgbClr val="F59E0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42816" y="1581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87568" y="1581912"/>
            <a:ext cx="1417320" cy="274320"/>
          </a:xfrm>
          <a:prstGeom prst="rect">
            <a:avLst/>
          </a:prstGeom>
          <a:solidFill>
            <a:srgbClr val="33415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1581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32320" y="1581912"/>
            <a:ext cx="14173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1581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1883664"/>
            <a:ext cx="182880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Analyst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67712" y="1883664"/>
            <a:ext cx="5029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67712" y="1883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98064" y="1883664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98064" y="1883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242816" y="1883664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42816" y="1883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87568" y="1883664"/>
            <a:ext cx="1417320" cy="274320"/>
          </a:xfrm>
          <a:prstGeom prst="rect">
            <a:avLst/>
          </a:prstGeom>
          <a:solidFill>
            <a:srgbClr val="33415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87568" y="1883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132320" y="1883664"/>
            <a:ext cx="14173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1883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11480" y="2185416"/>
            <a:ext cx="182880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2185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NLP Engineer (×2)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267712" y="2185416"/>
            <a:ext cx="5029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67712" y="21854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798064" y="2185416"/>
            <a:ext cx="1417320" cy="274320"/>
          </a:xfrm>
          <a:prstGeom prst="rect">
            <a:avLst/>
          </a:prstGeom>
          <a:solidFill>
            <a:srgbClr val="33415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98064" y="2185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242816" y="2185416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42816" y="2185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687568" y="2185416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87568" y="2185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132320" y="2185416"/>
            <a:ext cx="1417320" cy="274320"/>
          </a:xfrm>
          <a:prstGeom prst="rect">
            <a:avLst/>
          </a:prstGeom>
          <a:solidFill>
            <a:srgbClr val="33415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0" y="2185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11480" y="2487168"/>
            <a:ext cx="182880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267712" y="2487168"/>
            <a:ext cx="5029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67712" y="2487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798064" y="2487168"/>
            <a:ext cx="14173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98064" y="2487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242816" y="2487168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42816" y="2487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87568" y="2487168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87568" y="2487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132320" y="2487168"/>
            <a:ext cx="1417320" cy="274320"/>
          </a:xfrm>
          <a:prstGeom prst="rect">
            <a:avLst/>
          </a:prstGeom>
          <a:solidFill>
            <a:srgbClr val="33415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32320" y="2487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11480" y="2788920"/>
            <a:ext cx="182880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Analyst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267712" y="2788920"/>
            <a:ext cx="5029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67712" y="27889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798064" y="2788920"/>
            <a:ext cx="1417320" cy="274320"/>
          </a:xfrm>
          <a:prstGeom prst="rect">
            <a:avLst/>
          </a:prstGeom>
          <a:solidFill>
            <a:srgbClr val="F59E0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98064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242816" y="2788920"/>
            <a:ext cx="1417320" cy="274320"/>
          </a:xfrm>
          <a:prstGeom prst="rect">
            <a:avLst/>
          </a:prstGeom>
          <a:solidFill>
            <a:srgbClr val="33415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42816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687568" y="2788920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87568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132320" y="2788920"/>
            <a:ext cx="1417320" cy="274320"/>
          </a:xfrm>
          <a:prstGeom prst="rect">
            <a:avLst/>
          </a:prstGeom>
          <a:solidFill>
            <a:srgbClr val="33415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132320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11480" y="3090672"/>
            <a:ext cx="182880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1148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Lead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2267712" y="3090672"/>
            <a:ext cx="5029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267712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798064" y="3090672"/>
            <a:ext cx="14173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98064" y="3090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242816" y="3090672"/>
            <a:ext cx="14173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42816" y="3090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687568" y="3090672"/>
            <a:ext cx="1417320" cy="274320"/>
          </a:xfrm>
          <a:prstGeom prst="rect">
            <a:avLst/>
          </a:prstGeom>
          <a:solidFill>
            <a:srgbClr val="33415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87568" y="3090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132320" y="3090672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32320" y="3090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11480" y="3392424"/>
            <a:ext cx="182880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1480" y="3392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267712" y="3392424"/>
            <a:ext cx="5029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267712" y="33924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2798064" y="3392424"/>
            <a:ext cx="1417320" cy="274320"/>
          </a:xfrm>
          <a:prstGeom prst="rect">
            <a:avLst/>
          </a:prstGeom>
          <a:solidFill>
            <a:srgbClr val="33415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798064" y="33924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242816" y="3392424"/>
            <a:ext cx="14173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42816" y="33924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5687568" y="3392424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687568" y="33924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7132320" y="3392424"/>
            <a:ext cx="1417320" cy="274320"/>
          </a:xfrm>
          <a:prstGeom prst="rect">
            <a:avLst/>
          </a:prstGeom>
          <a:solidFill>
            <a:srgbClr val="33415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132320" y="33924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11480" y="3694176"/>
            <a:ext cx="182880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11480" y="3694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 Data Stewards (×3)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2267712" y="3694176"/>
            <a:ext cx="5029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267712" y="36941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0.5/ea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2798064" y="3694176"/>
            <a:ext cx="1417320" cy="274320"/>
          </a:xfrm>
          <a:prstGeom prst="rect">
            <a:avLst/>
          </a:prstGeom>
          <a:solidFill>
            <a:srgbClr val="33415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798064" y="36941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242816" y="3694176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242816" y="36941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5687568" y="3694176"/>
            <a:ext cx="1417320" cy="274320"/>
          </a:xfrm>
          <a:prstGeom prst="rect">
            <a:avLst/>
          </a:prstGeom>
          <a:solidFill>
            <a:srgbClr val="33415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687568" y="36941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7132320" y="3694176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132320" y="36941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411480" y="3995928"/>
            <a:ext cx="182880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1148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Managers (×3)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2267712" y="3995928"/>
            <a:ext cx="5029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267712" y="39959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0.5/ea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2798064" y="3995928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798064" y="3995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4242816" y="3995928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242816" y="3995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5687568" y="3995928"/>
            <a:ext cx="1417320" cy="274320"/>
          </a:xfrm>
          <a:prstGeom prst="rect">
            <a:avLst/>
          </a:prstGeom>
          <a:solidFill>
            <a:srgbClr val="334155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87568" y="3995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7132320" y="3995928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132320" y="3995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411480" y="4297680"/>
            <a:ext cx="182880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1148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 (sign-off)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2267712" y="4297680"/>
            <a:ext cx="5029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267712" y="4297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0.25/ea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2798064" y="4297680"/>
            <a:ext cx="14173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798064" y="4297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4242816" y="4297680"/>
            <a:ext cx="1417320" cy="274320"/>
          </a:xfrm>
          <a:prstGeom prst="rect">
            <a:avLst/>
          </a:prstGeom>
          <a:solidFill>
            <a:srgbClr val="1D4ED8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242816" y="4297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5687568" y="4297680"/>
            <a:ext cx="14173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687568" y="4297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7132320" y="4297680"/>
            <a:ext cx="1417320" cy="27432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132320" y="4297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411480" y="4636008"/>
            <a:ext cx="2359152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9" name="Text 147"/>
          <p:cNvSpPr/>
          <p:nvPr/>
        </p:nvSpPr>
        <p:spPr>
          <a:xfrm>
            <a:off x="411480" y="463600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CORE FTE: ~7.25 + LOB contributors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411480" y="49103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Responsible   </a:t>
            </a:r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Accountable   </a:t>
            </a:r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Consulted   </a:t>
            </a:r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Informed</a:t>
            </a:r>
            <a:endParaRPr lang="en-US" sz="850" dirty="0"/>
          </a:p>
        </p:txBody>
      </p:sp>
      <p:sp>
        <p:nvSpPr>
          <p:cNvPr id="151" name="Text 149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152" name="Text 150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&amp; Mitigations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management across compliance, technical, organizational, and financial dimensions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74520" y="868680"/>
            <a:ext cx="33832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868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DESCRIPTION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0" y="868680"/>
            <a:ext cx="33832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868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13716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170432"/>
            <a:ext cx="36576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188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Privacy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8640" y="1444752"/>
            <a:ext cx="502920" cy="146304"/>
          </a:xfrm>
          <a:prstGeom prst="roundRect">
            <a:avLst>
              <a:gd name="adj" fmla="val 12500"/>
            </a:avLst>
          </a:prstGeom>
          <a:solidFill>
            <a:srgbClr val="EF4444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4447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874520" y="1170432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8872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and documents contain PII, MNPI, or attorney-client privileged content that gets indexed for AI retrieval. GDPR/CCPA violations could result in regulatory action.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03520" y="1170432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6672" y="118872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detection before any indexing; auto-redaction pipeline as gate; compliance council sign-off on every new data source; quarterly audit of indexed content.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1664208"/>
            <a:ext cx="13716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664208"/>
            <a:ext cx="36576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16824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" y="1938528"/>
            <a:ext cx="502920" cy="146304"/>
          </a:xfrm>
          <a:prstGeom prst="roundRect">
            <a:avLst>
              <a:gd name="adj" fmla="val 12500"/>
            </a:avLst>
          </a:prstGeom>
          <a:solidFill>
            <a:srgbClr val="F97316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9385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874520" y="1664208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38528" y="16824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 sources are scattered across dozens of systems per LOB with no existing catalog. Discovery takes 2-3× longer than structured data due to ambiguous ownership and access controls.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303520" y="1664208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16824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Discovery Analyst role (1.0 FTE); phased LOB-by-LOB crawl starting with Ops; automated scanning tools for SharePoint/S3; time-boxed discovery sprints.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2157984"/>
            <a:ext cx="13716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157984"/>
            <a:ext cx="36576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176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8640" y="2432304"/>
            <a:ext cx="502920" cy="146304"/>
          </a:xfrm>
          <a:prstGeom prst="roundRect">
            <a:avLst>
              <a:gd name="adj" fmla="val 12500"/>
            </a:avLst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43230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874520" y="2157984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38528" y="217627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managers and LOB data owners refuse to accept formal responsibility for unstructured datasets, or lack bandwidth to participate in scoring validation.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303520" y="2157984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76672" y="217627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mandate for 25-50% time commitment; formal commitment model (Discover→Nominate→Accept→Commit); LLM-assisted enrichment reduces manual effort by ~70%.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7200" y="2651760"/>
            <a:ext cx="13716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2651760"/>
            <a:ext cx="36576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2670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/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Quality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48640" y="2926080"/>
            <a:ext cx="502920" cy="146304"/>
          </a:xfrm>
          <a:prstGeom prst="roundRect">
            <a:avLst>
              <a:gd name="adj" fmla="val 12500"/>
            </a:avLst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292608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1874520" y="2651760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38528" y="267004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extraction quality is too low for complex bank documents (legal language, regulatory jargon, multi-column PDFs). Poor extraction = poor scoring = poor AI answers.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303520" y="2651760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6672" y="267004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clean knowledge articles (highest NLP accuracy); iteratively improve on harder content; benchmark extraction accuracy before production; human-in-loop validation for first 50 datasets.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3145536"/>
            <a:ext cx="13716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145536"/>
            <a:ext cx="36576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31638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48640" y="3419856"/>
            <a:ext cx="502920" cy="146304"/>
          </a:xfrm>
          <a:prstGeom prst="roundRect">
            <a:avLst>
              <a:gd name="adj" fmla="val 12500"/>
            </a:avLst>
          </a:prstGeom>
          <a:solidFill>
            <a:srgbClr val="1D4ED8">
              <a:alpha val="3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34198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1874520" y="3145536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38528" y="316382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push to include emails, videos, unorganized drives, or expand to multiple LOBs simultaneously. Each addition doubles complexity without proportional value.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303520" y="3145536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76672" y="316382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scope boundary (this deck); SteerCo sign-off on V1 scope; formal change-request process; every scope addition requires business case + resource commitment.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57200" y="3639312"/>
            <a:ext cx="13716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" y="3639312"/>
            <a:ext cx="36576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7" name="Text 55"/>
          <p:cNvSpPr/>
          <p:nvPr/>
        </p:nvSpPr>
        <p:spPr>
          <a:xfrm>
            <a:off x="54864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Turf Wars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48640" y="3913632"/>
            <a:ext cx="502920" cy="146304"/>
          </a:xfrm>
          <a:prstGeom prst="roundRect">
            <a:avLst>
              <a:gd name="adj" fmla="val 12500"/>
            </a:avLst>
          </a:prstGeom>
          <a:solidFill>
            <a:srgbClr val="0D9488">
              <a:alpha val="3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391363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874520" y="3639312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38528" y="36576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 teams (Data Quality, LOB Governance, Tech Quality, Business Quality) view unstructured data initiative as overlapping territory. Passive resistance blocks progress.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303520" y="3639312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76672" y="36576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as extension of Mod 2.0 (not competing); embed sister team members in working group; joint charter endorsed by VP; shared KPIs tied to AI readiness score.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57200" y="4133088"/>
            <a:ext cx="137160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" y="4133088"/>
            <a:ext cx="36576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6" name="Text 64"/>
          <p:cNvSpPr/>
          <p:nvPr/>
        </p:nvSpPr>
        <p:spPr>
          <a:xfrm>
            <a:off x="548640" y="41513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48640" y="4407408"/>
            <a:ext cx="502920" cy="146304"/>
          </a:xfrm>
          <a:prstGeom prst="roundRect">
            <a:avLst>
              <a:gd name="adj" fmla="val 12500"/>
            </a:avLst>
          </a:prstGeom>
          <a:solidFill>
            <a:srgbClr val="06B6D4">
              <a:alpha val="3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44074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1874520" y="4133088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38528" y="415137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costs for NLP extraction, vector embedding storage, and compute for processing large document volumes exceed V1 budget estimates.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303520" y="4133088"/>
            <a:ext cx="338328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76672" y="415137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spend caps per phase; use open-source models (Hugging Face) where possible; leverage existing AWS infrastructure; cost tracking in every sprint review.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Leadership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asks to unblock the unstructured data modernization track — each is a prerequisite for the next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1E293B"/>
          </a:solidFill>
          <a:ln w="8890">
            <a:solidFill>
              <a:srgbClr val="FBBF2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923544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23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2416" y="9144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 Team Alignment &amp; Joint Charter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" y="1115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Quality, LOB Governance, Technical Quality, and Business Quality teams must formally co-own this initiative — not as observers, but as active contributors with shared KPIs. Without their buy-in, we cannot validate scoring or drive adoption. This is an extension of Mod 2.0.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42416" y="149047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endorsement of joint charter; co-staffing of working group; shared KPI alignment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solidFill>
            <a:srgbClr val="1E293B"/>
          </a:solidFill>
          <a:ln w="889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83080"/>
            <a:ext cx="54864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837944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2416" y="18288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Resourcing: 7-8 FTE Core Team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" y="2029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~7.25 FTE for the 12-month program: 1.0 Program Lead, 1.0 Data Architect, 1.0 Discovery Analyst, 2.0 ML/NLP Engineers, 1.0 Data Engineer, 0.5 Compliance, 0.5 Change Lead, 0.25 Security. Additionally, we need 25-50% time from Ops LOB content managers, data stewards, and data owners.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42416" y="240487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of 7.25 FTE allocation; mandate to Ops LOB for contributor participation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8229600" cy="822960"/>
          </a:xfrm>
          <a:prstGeom prst="rect">
            <a:avLst/>
          </a:prstGeom>
          <a:solidFill>
            <a:srgbClr val="1E293B"/>
          </a:solidFill>
          <a:ln w="8890">
            <a:solidFill>
              <a:srgbClr val="2DD4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9748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75234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42416" y="2743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 Accountability Mandate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" y="2944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 and content managers must formally accept responsibility for their datasets and commit to remediation timelines. Without this, enriched datasets will degrade within 6 months (same pattern seen in Mod 1.0). We need VP-level backing for the Discover → Nominate → Accept → Commit model.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42416" y="331927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memo establishing data-owner accountability; formal sign-off process in Phase 2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1E293B"/>
          </a:solidFill>
          <a:ln w="889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61188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36576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SteerCo Sponsorship &amp; Scope Protection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3858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initiative will face pressure to expand scope (emails, videos, multi-LOB). We need a SteerCo-level commitment to V1 scope boundary, formal change-request process, and VP's visible sponsorship to signal organizational priority and protect the team from scope creep.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42416" y="423367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SteerCo slot; VP as executive sponsor; scope boundary sign-off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57200" y="4553712"/>
            <a:ext cx="82296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5902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approval to proceed with Phase 1 kickoff, joint charter drafting, and sister-team engagement.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12-Month Timeline &amp; Milestones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phases with clear milestones — designed for G-SIB pace with regulatory checkpoints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5920" y="960120"/>
            <a:ext cx="5669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9601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5669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9601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34640" y="960120"/>
            <a:ext cx="5669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9601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29000" y="960120"/>
            <a:ext cx="5669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9601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23360" y="960120"/>
            <a:ext cx="5669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9601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960120"/>
            <a:ext cx="5669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9601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12080" y="960120"/>
            <a:ext cx="5669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9601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06440" y="960120"/>
            <a:ext cx="5669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806440" y="9601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0" y="960120"/>
            <a:ext cx="5669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9601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995160" y="960120"/>
            <a:ext cx="5669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9601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589520" y="960120"/>
            <a:ext cx="5669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9601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183880" y="960120"/>
            <a:ext cx="5669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8183880" y="9601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1325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Standards &amp; Discovery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645920" y="1344168"/>
            <a:ext cx="1755648" cy="310896"/>
          </a:xfrm>
          <a:prstGeom prst="roundRect">
            <a:avLst>
              <a:gd name="adj" fmla="val 11765"/>
            </a:avLst>
          </a:prstGeom>
          <a:solidFill>
            <a:srgbClr val="1D4ED8">
              <a:alpha val="60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17830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Scoring &amp; Prioritization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834640" y="1801368"/>
            <a:ext cx="2350008" cy="310896"/>
          </a:xfrm>
          <a:prstGeom prst="roundRect">
            <a:avLst>
              <a:gd name="adj" fmla="val 11765"/>
            </a:avLst>
          </a:prstGeom>
          <a:solidFill>
            <a:srgbClr val="7C3AED">
              <a:alpha val="60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240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Tech Enablement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023360" y="2258568"/>
            <a:ext cx="2944368" cy="310896"/>
          </a:xfrm>
          <a:prstGeom prst="roundRect">
            <a:avLst>
              <a:gd name="adj" fmla="val 11765"/>
            </a:avLst>
          </a:prstGeom>
          <a:solidFill>
            <a:srgbClr val="0D9488">
              <a:alpha val="60000"/>
            </a:srgbClr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697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Change &amp; Adoption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806440" y="2715768"/>
            <a:ext cx="2944368" cy="310896"/>
          </a:xfrm>
          <a:prstGeom prst="roundRect">
            <a:avLst>
              <a:gd name="adj" fmla="val 11765"/>
            </a:avLst>
          </a:prstGeom>
          <a:solidFill>
            <a:srgbClr val="F59E0B">
              <a:alpha val="60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200400"/>
            <a:ext cx="859536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2735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&amp; DECISION POINTS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547872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1D4ED8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5478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05840" y="35478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Gate: Scoring framework validated; 100% Ops LOB sources cataloged; all data owners identified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3822192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8221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05840" y="382219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Gate: Prioritized backlog published; data owner sign-offs complete; scoring engine operational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4096512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0965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05840" y="409651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Gate: Top-20 datasets at Gold+ tier; knowledge agent prototype live; compliance audit passed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4370832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3708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05840" y="437083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SteerCo Decision Point: V2 business case presentation — cross-LOB expansion funding request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4645152"/>
            <a:ext cx="457200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6451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05840" y="464515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Gate: 50+ datasets scored; 10+ data owners trained; playbook documented; V2 roadmap funded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Phase 1 Deep-Dive — Standards &amp; Discovery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sprint plan — from framework design to fully cataloged data estate with validated scoring and identified owners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3977640" cy="370332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41248"/>
            <a:ext cx="397764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896112"/>
            <a:ext cx="3758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SPRINT-BY-SPRINT EXECUTION PLAN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70432"/>
            <a:ext cx="347472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7043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32688" y="1170432"/>
            <a:ext cx="502920" cy="164592"/>
          </a:xfrm>
          <a:prstGeom prst="roundRect">
            <a:avLst>
              <a:gd name="adj" fmla="val 16667"/>
            </a:avLst>
          </a:prstGeom>
          <a:solidFill>
            <a:srgbClr val="1D4ED8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1704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499616" y="117043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Standards Design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135331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Four Pillars scoring for unstructured characteristics. Define document taxonomy (policy, procedure, KB, form, report). Draft metadata schema for DataHub. Select and configure crawl tools.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48640" y="1677924"/>
            <a:ext cx="3794760" cy="45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700784"/>
            <a:ext cx="347472" cy="164592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70078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32688" y="1700784"/>
            <a:ext cx="502920" cy="164592"/>
          </a:xfrm>
          <a:prstGeom prst="roundRect">
            <a:avLst>
              <a:gd name="adj" fmla="val 16667"/>
            </a:avLst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17007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3-4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499616" y="170078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Infrastructure Setup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188366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automated crawlers for SharePoint, S3, ServiceNow, Confluence. Configure API connectors and staging area in DataHub. Coordinate LOB IT access and establish permission model.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548640" y="2208276"/>
            <a:ext cx="3794760" cy="45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231136"/>
            <a:ext cx="347472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2311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32688" y="2231136"/>
            <a:ext cx="502920" cy="164592"/>
          </a:xfrm>
          <a:prstGeom prst="roundRect">
            <a:avLst>
              <a:gd name="adj" fmla="val 16667"/>
            </a:avLst>
          </a:prstGeom>
          <a:solidFill>
            <a:srgbClr val="1D4ED8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22311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5-6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499616" y="223113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LOB Discovery Execution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" y="241401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full crawl across all Ops LOB data sources. Capture file metadata (type, size, path, modified date, ACLs). Identify ~50-100 distinct document collections. Map each to candidate data owner.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48640" y="2738628"/>
            <a:ext cx="3794760" cy="45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2761488"/>
            <a:ext cx="347472" cy="164592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7614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932688" y="2761488"/>
            <a:ext cx="502920" cy="164592"/>
          </a:xfrm>
          <a:prstGeom prst="roundRect">
            <a:avLst>
              <a:gd name="adj" fmla="val 16667"/>
            </a:avLst>
          </a:prstGeom>
          <a:solidFill>
            <a:srgbClr val="3B82F6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" y="27614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7-8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499616" y="2761488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 &amp; Cataloging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294436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ML document classifier on all discovered content. Apply taxonomy tags to each collection. Register all sources in DataHub with initial metadata. Flag PII/MNPI content for compliance review.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48640" y="3268980"/>
            <a:ext cx="3794760" cy="45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291840"/>
            <a:ext cx="347472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29184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32688" y="3291840"/>
            <a:ext cx="502920" cy="164592"/>
          </a:xfrm>
          <a:prstGeom prst="roundRect">
            <a:avLst>
              <a:gd name="adj" fmla="val 16667"/>
            </a:avLst>
          </a:prstGeom>
          <a:solidFill>
            <a:srgbClr val="1D4ED8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32688" y="3291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9-10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499616" y="329184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ID &amp; Pilot Scoring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48640" y="347472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data owners for each cataloged source in DRIA. Pilot-score 20-30 datasets using adapted framework. Calibrate scoring thresholds with SMEs and data stewards. Identify top-priority datasets.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48640" y="3799332"/>
            <a:ext cx="3794760" cy="45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3822192"/>
            <a:ext cx="347472" cy="164592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382219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932688" y="3822192"/>
            <a:ext cx="502920" cy="164592"/>
          </a:xfrm>
          <a:prstGeom prst="roundRect">
            <a:avLst>
              <a:gd name="adj" fmla="val 16667"/>
            </a:avLst>
          </a:prstGeom>
          <a:solidFill>
            <a:srgbClr val="3B82F6">
              <a:alpha val="4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32688" y="38221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11-12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499616" y="382219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Phase Gate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48640" y="400507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framework with Data Quality + Compliance councils. Finalize Ops LOB catalog (100% sources registered). Prepare Phase 1 Gate Report for SteerCo. Transition prioritized backlog to Phase 2.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663440" y="841248"/>
            <a:ext cx="4023360" cy="3703320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841248"/>
            <a:ext cx="40233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4773168" y="89611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DESIGN FLOW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00600" y="1216152"/>
            <a:ext cx="237744" cy="23774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2" name="Text 50"/>
          <p:cNvSpPr/>
          <p:nvPr/>
        </p:nvSpPr>
        <p:spPr>
          <a:xfrm>
            <a:off x="4800600" y="1216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120640" y="117043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IDENTIFIED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120640" y="133502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SharePoint, S3, ServiceNow, Confluence,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DMS, network drives across Ops LOB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846320" y="148132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00600" y="1746504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4800600" y="1746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120640" y="170078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CRAWL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120640" y="186537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Permission-aware crawlers scan each system;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file metadata (type, size, path, date, ACL)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846320" y="201168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00600" y="2276856"/>
            <a:ext cx="237744" cy="2377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2" name="Text 60"/>
          <p:cNvSpPr/>
          <p:nvPr/>
        </p:nvSpPr>
        <p:spPr>
          <a:xfrm>
            <a:off x="4800600" y="2276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120640" y="223113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120640" y="23957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classifier assigns document type: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| procedure | KB article | form | report | other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4846320" y="254203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800600" y="280720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7" name="Text 65"/>
          <p:cNvSpPr/>
          <p:nvPr/>
        </p:nvSpPr>
        <p:spPr>
          <a:xfrm>
            <a:off x="4800600" y="2807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120640" y="276148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IN DATAHUB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120640" y="29260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metadata schema; assign unique ID;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source system; set freshness signal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4846320" y="307238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800600" y="3337560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2" name="Text 70"/>
          <p:cNvSpPr/>
          <p:nvPr/>
        </p:nvSpPr>
        <p:spPr>
          <a:xfrm>
            <a:off x="480060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120640" y="329184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INTO DRIA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120640" y="345643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dataset record in DRIA platform;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candidate data owner for nomination workflow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4846320" y="360273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800600" y="3867912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7" name="Text 75"/>
          <p:cNvSpPr/>
          <p:nvPr/>
        </p:nvSpPr>
        <p:spPr>
          <a:xfrm>
            <a:off x="4800600" y="3867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120640" y="382219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SCORE &amp; VALIDATE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120640" y="398678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adapted Four Pillars framework;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with SMEs; confirm scoring thresholds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457200" y="4572000"/>
            <a:ext cx="8229600" cy="182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1" name="Text 79"/>
          <p:cNvSpPr/>
          <p:nvPr/>
        </p:nvSpPr>
        <p:spPr>
          <a:xfrm>
            <a:off x="457200" y="460857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EXIT:  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Ops LOB sources cataloged  •  Scoring framework validated  •  All data owners identified in DRIA  •  Phase 2 backlog ready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Phase 2 Deep-Dive — DRIA Scoring &amp; Ownership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DRIA platform drives end-to-end: owner acceptance → ML-powered enrichment → automated scoring → quality dashboarding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103120"/>
          </a:xfrm>
          <a:prstGeom prst="rect">
            <a:avLst/>
          </a:prstGeom>
          <a:solidFill>
            <a:srgbClr val="1E293B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9611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DRIA PLATFORM WORKFLOW — DATA OWNER ACCEPTANCE &amp; ML ENRICHMENT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1188720" cy="155448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" y="1298448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99339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identified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Phase 1 crawl;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metadata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810512" y="1783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75104" y="1234440"/>
            <a:ext cx="1188720" cy="155448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1298448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20824" y="1645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20824" y="199339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DRIA assigns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owner;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sent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assessment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145536" y="1783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10128" y="1234440"/>
            <a:ext cx="1188720" cy="155448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1298448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758184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55848" y="1645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Reviews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Accepts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55848" y="199339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reviews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score;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formal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480560" y="1783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1234440"/>
            <a:ext cx="1188720" cy="155448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93208" y="1298448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093208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90872" y="1645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90872" y="199339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sets target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(Gold/Plat);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agrees remediation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815584" y="1783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80176" y="1234440"/>
            <a:ext cx="1188720" cy="155448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8232" y="1298448"/>
            <a:ext cx="292608" cy="29260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6428232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25896" y="1645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Enrichment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25896" y="199339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DRIA triggers ML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classify,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entities,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embeddings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7150608" y="1783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315200" y="1234440"/>
            <a:ext cx="1188720" cy="155448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63256" y="129844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776325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60920" y="1645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60920" y="199339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Four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score;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DRIA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57200" y="3063240"/>
            <a:ext cx="3977640" cy="1508760"/>
          </a:xfrm>
          <a:prstGeom prst="rect">
            <a:avLst/>
          </a:prstGeom>
          <a:solidFill>
            <a:srgbClr val="1E293B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063240"/>
            <a:ext cx="397764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4" name="Text 42"/>
          <p:cNvSpPr/>
          <p:nvPr/>
        </p:nvSpPr>
        <p:spPr>
          <a:xfrm>
            <a:off x="566928" y="3127248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ENRICHMENT MODELS (DRIA PIPELINE)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3364992"/>
            <a:ext cx="36576" cy="1828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3649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Classifier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874520" y="33649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type (policy, procedure, KB, form, report) + domain tags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749040" y="33649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/ Comprehend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548640" y="3593592"/>
            <a:ext cx="36576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35935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Extractor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874520" y="35935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people, organizations, dates, amounts, regulatory refs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749040" y="35935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+ Custom Rules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548640" y="3822192"/>
            <a:ext cx="36576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3822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Summarizer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874520" y="38221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Auto-abstracts + key-phrase extraction for each document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3749040" y="38221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(Claude/GPT)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548640" y="4050792"/>
            <a:ext cx="36576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40507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Scanner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874520" y="4050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PII, MNPI, attorney-client privilege; triggers auto-redaction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3749040" y="4050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 + Custom NLP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548640" y="4279392"/>
            <a:ext cx="36576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2" name="Text 60"/>
          <p:cNvSpPr/>
          <p:nvPr/>
        </p:nvSpPr>
        <p:spPr>
          <a:xfrm>
            <a:off x="640080" y="42793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Generator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874520" y="42793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vector representations for semantic search and RAG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749040" y="42793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Embeddings / BERT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4663440" y="3063240"/>
            <a:ext cx="4023360" cy="1508760"/>
          </a:xfrm>
          <a:prstGeom prst="rect">
            <a:avLst/>
          </a:prstGeom>
          <a:solidFill>
            <a:srgbClr val="1E293B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663440" y="3063240"/>
            <a:ext cx="40233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7" name="Text 65"/>
          <p:cNvSpPr/>
          <p:nvPr/>
        </p:nvSpPr>
        <p:spPr>
          <a:xfrm>
            <a:off x="4773168" y="3127248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SCORING (ADAPTED FOR UNSTRUCTURED)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54880" y="3383280"/>
            <a:ext cx="777240" cy="182880"/>
          </a:xfrm>
          <a:prstGeom prst="roundRect">
            <a:avLst>
              <a:gd name="adj" fmla="val 15000"/>
            </a:avLst>
          </a:prstGeom>
          <a:solidFill>
            <a:srgbClr val="1D4ED8"/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0" y="33832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23560" y="3383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Cataloged? Tagged? Searchable? Freshness signals?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4754880" y="3621024"/>
            <a:ext cx="77724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</p:spPr>
      </p:sp>
      <p:sp>
        <p:nvSpPr>
          <p:cNvPr id="72" name="Text 70"/>
          <p:cNvSpPr/>
          <p:nvPr/>
        </p:nvSpPr>
        <p:spPr>
          <a:xfrm>
            <a:off x="4754880" y="36210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23560" y="36210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access? Permissions clear? Programmatic retrieval?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4754880" y="3858768"/>
            <a:ext cx="777240" cy="18288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/>
        </p:spPr>
      </p:sp>
      <p:sp>
        <p:nvSpPr>
          <p:cNvPr id="75" name="Text 73"/>
          <p:cNvSpPr/>
          <p:nvPr/>
        </p:nvSpPr>
        <p:spPr>
          <a:xfrm>
            <a:off x="4754880" y="38587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23560" y="38587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classified? Consent tracked? Retention policy? Audit trail?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4754880" y="4096512"/>
            <a:ext cx="777240" cy="18288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78" name="Text 76"/>
          <p:cNvSpPr/>
          <p:nvPr/>
        </p:nvSpPr>
        <p:spPr>
          <a:xfrm>
            <a:off x="4754880" y="40965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23560" y="40965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validated? Duplicates removed? Lineage? Owner active?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4754880" y="4370832"/>
            <a:ext cx="3840480" cy="45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1" name="Text 79"/>
          <p:cNvSpPr/>
          <p:nvPr/>
        </p:nvSpPr>
        <p:spPr>
          <a:xfrm>
            <a:off x="4754880" y="438912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TIERS:  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→ Gold → Silver → Bronze → Unscored  |  </a:t>
            </a:r>
            <a:pPr indent="0" marL="0">
              <a:buNone/>
            </a:pPr>
            <a:r>
              <a:rPr lang="en-US" sz="7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= weakest pillar score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57200" y="4608576"/>
            <a:ext cx="822960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3" name="Text 81"/>
          <p:cNvSpPr/>
          <p:nvPr/>
        </p:nvSpPr>
        <p:spPr>
          <a:xfrm>
            <a:off x="457200" y="464515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EXIT:  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backlog published  •  100% data owner sign-offs in DRIA  •  Scoring engine operational  •  Target states agreed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Enrichment Pipeline &amp; AI Performance Impact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unstructured data transforms through the DRIA enrichment pipeline — and what it means for AI agent performance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1691640"/>
          </a:xfrm>
          <a:prstGeom prst="rect">
            <a:avLst/>
          </a:prstGeom>
          <a:solidFill>
            <a:srgbClr val="1E293B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961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ENRICHMENT PIPELINE (DRIA-ORCHESTRATED)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868680" cy="118872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70432"/>
            <a:ext cx="868680" cy="320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43584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1792" y="1627632"/>
            <a:ext cx="813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KB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444752" y="15544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63624" y="1170432"/>
            <a:ext cx="868680" cy="118872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889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63624" y="1170432"/>
            <a:ext cx="868680" cy="320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591056" y="1243584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591056" y="1627632"/>
            <a:ext cx="813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content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414016" y="15544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32888" y="1170432"/>
            <a:ext cx="868680" cy="118872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32888" y="1170432"/>
            <a:ext cx="86868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1243584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560320" y="1627632"/>
            <a:ext cx="813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assigns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domain,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tags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383280" y="15544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02152" y="1170432"/>
            <a:ext cx="868680" cy="118872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8890">
            <a:solidFill>
              <a:srgbClr val="1D4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02152" y="1170432"/>
            <a:ext cx="868680" cy="3200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3529584" y="1243584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529584" y="1627632"/>
            <a:ext cx="813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NER: people,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orgs, dates,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352544" y="15544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71416" y="1170432"/>
            <a:ext cx="868680" cy="118872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71416" y="1170432"/>
            <a:ext cx="868680" cy="320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4498848" y="1243584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498848" y="1627632"/>
            <a:ext cx="813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lineage,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freshness,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link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321808" y="15544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40680" y="1170432"/>
            <a:ext cx="868680" cy="118872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889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40680" y="1170432"/>
            <a:ext cx="868680" cy="3200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5468112" y="1243584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468112" y="1627632"/>
            <a:ext cx="813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PII/MNPI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auto-redact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291072" y="15544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9944" y="1170432"/>
            <a:ext cx="868680" cy="118872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9944" y="1170432"/>
            <a:ext cx="86868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6437376" y="1243584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437376" y="1627632"/>
            <a:ext cx="813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7260336" y="15544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79208" y="1170432"/>
            <a:ext cx="868680" cy="118872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79208" y="1170432"/>
            <a:ext cx="868680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7406640" y="1243584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406640" y="1627632"/>
            <a:ext cx="813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Scored,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indexed,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retrievable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57200" y="2651760"/>
            <a:ext cx="82296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27249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PERFORMANCE — BEFORE vs. AFTER ENRICHMENT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2971800"/>
            <a:ext cx="3977640" cy="1664208"/>
          </a:xfrm>
          <a:prstGeom prst="rect">
            <a:avLst/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" y="2971800"/>
            <a:ext cx="39776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0" name="Text 48"/>
          <p:cNvSpPr/>
          <p:nvPr/>
        </p:nvSpPr>
        <p:spPr>
          <a:xfrm>
            <a:off x="566928" y="3035808"/>
            <a:ext cx="3758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ENRICHMENT (Current State)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32918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97280" y="32918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Discoverability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423160" y="3291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unstructured content cataloged or searchable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48640" y="35478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97280" y="3547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Retrieval Accuracy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423160" y="3547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docs returned on agent queries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48640" y="38039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97280" y="38039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423160" y="38039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contain fabricated or ungrounded info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548640" y="40599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97280" y="4059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Answer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423160" y="40599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cannot find source → routes to human queue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48640" y="43159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97280" y="4315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Coverage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423160" y="43159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PII/MNPI scan on unstructured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663440" y="2971800"/>
            <a:ext cx="4023360" cy="1664208"/>
          </a:xfrm>
          <a:prstGeom prst="rect">
            <a:avLst/>
          </a:prstGeom>
          <a:solidFill>
            <a:srgbClr val="1E293B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63440" y="2971800"/>
            <a:ext cx="40233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8" name="Text 66"/>
          <p:cNvSpPr/>
          <p:nvPr/>
        </p:nvSpPr>
        <p:spPr>
          <a:xfrm>
            <a:off x="4773168" y="3035808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ENRICHMENT (Target State — Month 12)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754880" y="32918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303520" y="32918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Discoverability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629400" y="3291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LOB content cataloged, tagged, searchable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754880" y="35478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303520" y="3547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Retrieval Accuracy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629400" y="35478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semantic + metadata search in vector store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4754880" y="38039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303520" y="38039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629400" y="38039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responses with provenance citations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4754880" y="40599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 sec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303520" y="4059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Answer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629400" y="40599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retrieves source, cites provenance, answers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4754880" y="43159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303520" y="4315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Coverage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629400" y="43159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scanned; PII/MNPI auto-redacted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457200" y="4645152"/>
            <a:ext cx="82296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5" name="Text 83"/>
          <p:cNvSpPr/>
          <p:nvPr/>
        </p:nvSpPr>
        <p:spPr>
          <a:xfrm>
            <a:off x="457200" y="4672584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enrichment step directly improves one or more AI performance dimensions. Without enrichment, AI agents cannot safely or accurately serve the bank.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Modernization &amp; AI Readiness Initiative  |  Confidential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804672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Unstructured Data Modernization — VP Discussion (v2)</dc:title>
  <dc:subject>PptxGenJS Presentation</dc:subject>
  <dc:creator>Omar Saleem</dc:creator>
  <cp:lastModifiedBy>Omar Saleem</cp:lastModifiedBy>
  <cp:revision>1</cp:revision>
  <dcterms:created xsi:type="dcterms:W3CDTF">2026-02-14T13:23:38Z</dcterms:created>
  <dcterms:modified xsi:type="dcterms:W3CDTF">2026-02-14T13:23:38Z</dcterms:modified>
</cp:coreProperties>
</file>